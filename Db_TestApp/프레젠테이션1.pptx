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FC689D-828B-1B99-EA67-D1C3C43741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A901179-7682-5190-46EC-A9DA35035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2DF130-480F-F567-CE26-820C238C2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736B64-9C9B-AFD2-7992-D343E5B19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0F857B-63EE-EA5C-94E3-C49C44E6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029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8637F7-1A0F-648D-90FC-A3D98842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7115CC-7A9B-5E0C-4301-28B9A990A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CB0AE6-7571-B22D-ACB6-06C4F58F2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505435-EB72-1404-088A-BD9175697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C70EFD-2088-1EB8-8E1A-DF3D56DE2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31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9E0A6-FA8D-D5B6-BCA5-089A576ED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BB1831-3EB8-37C4-8023-E8F552A30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DF04CE-DB3F-9C34-D2F8-E7333EC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713AEF-FEF5-A8BD-CBAE-FAA46939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BC959-8116-F0BE-8371-EEC9689D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187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C87D7A-8650-EED8-DEA7-A104E3981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01C2F4-F99C-AF4F-2673-2AC3FF25B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3A1A83-01F4-EF33-7A1E-32E381468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14387C-986D-F6EB-A27A-793FD4DC9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ECAF9F-8998-AB90-D056-EB06FBC11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4AF9D8-2CA3-C20E-D1ED-0D9A5ECB0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537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C7757C-B01C-69B0-4E36-F73A72839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E55751-EFA3-FE92-9901-CDD23D8DD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A858F1-F91A-F0E8-9CC3-C7C6870AD0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874601-C0E3-27CE-8B47-792A648BA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823B14-BB4A-DFC2-F520-BDDAA04E5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DAA5F20-C28A-D40A-5B3B-11733B1F3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11AE9F0-8382-7F3A-FFA7-D752CB38B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5E3ED2A-4851-F4F9-6C7E-C039DBD87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3842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6AB38-CBB1-EFC1-5467-1ADE8618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EEBA12B-4C54-5BE7-3DF4-4037008E2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B7E4F67-F718-4930-DB61-2B7B46E73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59F789-61F2-921C-BC81-B337AE3C8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7341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A1F0CFE-5A61-7C4F-EFF5-A435D7257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AF33B60-C5FE-DD17-3DE5-1D4BFD468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B3E5E6-28D9-CD8C-10DA-EAE595FE7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304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82CC51-59F9-654E-F3D3-6EEC7C510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493A86-E133-E117-DE89-728957E9B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5A6180-B9C1-6CAD-1497-9C77BB671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D43261-31E4-1E8C-78E0-205DB1C1B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1CFA73C-1C80-91A9-6DA2-6033AD25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ACF6F1-EA16-2C19-CC05-66C75764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221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E7B1B-533A-79CC-9F48-5456221E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944769C-A0F8-3684-CD8F-DBB6EA5658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0BDD6D-64D5-A24D-2482-8F7B392BF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EEDBB1-29A8-981F-D0C0-F503AD021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877638-44AA-7A42-A1CE-85F9296B9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05D7483-BC46-1ECD-2634-26C60D5B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8942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EDDBA-2AD3-8380-2FB2-4C5621C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0FB8B0B-D652-281D-2B03-31B27ACC6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9280C1-F05A-4041-E781-498464A4F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F562F0-162E-EF52-A135-CA6E00FB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0F8FFB-FBF1-A6FD-F4BE-B1B41E3C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046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1388AF-8E4F-8D78-8A1D-CAB40DF1F5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62A45AF-7286-1EC1-BB3E-8A2613AE4F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6A6BED-EA87-A6F6-FC5B-65257CFC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78D-1D9E-CEA6-2099-339CE6E97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E80287-AFE9-F936-7B24-95FF6DD7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333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505E228-2922-3F6F-3E78-7747766C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BCE8B9-1748-9DA3-6CD1-9BB08E8B7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C05832-35A6-6469-5F1E-5BB0B4A6B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939E0F-DFE3-4069-ACBF-5018C0FCBDE8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745B75-1529-F965-3E4E-11B6909A7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13A0FE-E0BE-1B1B-C1EB-1ED459AD00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3520DD-C5B1-4D3D-AB68-3C74018AB3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009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bartoszsypytkowski.com/db-backup-point-in-time-recovery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E2CD2C-7208-70D4-490A-5AF4C13D6195}"/>
              </a:ext>
            </a:extLst>
          </p:cNvPr>
          <p:cNvGrpSpPr/>
          <p:nvPr/>
        </p:nvGrpSpPr>
        <p:grpSpPr>
          <a:xfrm>
            <a:off x="2023071" y="18881"/>
            <a:ext cx="3705283" cy="2652502"/>
            <a:chOff x="925420" y="265156"/>
            <a:chExt cx="3705283" cy="2652502"/>
          </a:xfrm>
        </p:grpSpPr>
        <p:pic>
          <p:nvPicPr>
            <p:cNvPr id="9" name="그림 8" descr="텍스트, 스크린샷, 도표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E52048F-6C70-B9C3-319D-CC64A4488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5420" y="724659"/>
              <a:ext cx="3262223" cy="219299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2F94DD-8C61-3E77-A636-06E1946301BE}"/>
                </a:ext>
              </a:extLst>
            </p:cNvPr>
            <p:cNvSpPr txBox="1"/>
            <p:nvPr/>
          </p:nvSpPr>
          <p:spPr>
            <a:xfrm>
              <a:off x="2081467" y="265156"/>
              <a:ext cx="25492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Default</a:t>
              </a:r>
              <a:endParaRPr lang="ko-KR" altLang="en-US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E1FC1AC-DD8B-7F63-78AA-829CBCB27EEE}"/>
              </a:ext>
            </a:extLst>
          </p:cNvPr>
          <p:cNvGrpSpPr/>
          <p:nvPr/>
        </p:nvGrpSpPr>
        <p:grpSpPr>
          <a:xfrm>
            <a:off x="6016942" y="18881"/>
            <a:ext cx="4987192" cy="2652501"/>
            <a:chOff x="6525870" y="265156"/>
            <a:chExt cx="4987192" cy="2652501"/>
          </a:xfrm>
        </p:grpSpPr>
        <p:pic>
          <p:nvPicPr>
            <p:cNvPr id="7" name="그림 6" descr="텍스트, 스크린샷, 도표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0AD166D-38A3-18AE-DA9F-D2C860F0B5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5870" y="724659"/>
              <a:ext cx="4987192" cy="219299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8A582D-2D4D-C3D2-738B-46F175C6D7F1}"/>
                </a:ext>
              </a:extLst>
            </p:cNvPr>
            <p:cNvSpPr txBox="1"/>
            <p:nvPr/>
          </p:nvSpPr>
          <p:spPr>
            <a:xfrm>
              <a:off x="7578349" y="265156"/>
              <a:ext cx="34856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WAL(Write Ahead Logging)</a:t>
              </a:r>
              <a:endParaRPr lang="ko-KR" altLang="en-US" dirty="0"/>
            </a:p>
          </p:txBody>
        </p:sp>
      </p:grp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8731DD0-4F16-CB8D-CD4D-F84657D12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859592"/>
              </p:ext>
            </p:extLst>
          </p:nvPr>
        </p:nvGraphicFramePr>
        <p:xfrm>
          <a:off x="3070541" y="3054399"/>
          <a:ext cx="5892801" cy="2792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267">
                  <a:extLst>
                    <a:ext uri="{9D8B030D-6E8A-4147-A177-3AD203B41FA5}">
                      <a16:colId xmlns:a16="http://schemas.microsoft.com/office/drawing/2014/main" val="2633589895"/>
                    </a:ext>
                  </a:extLst>
                </a:gridCol>
                <a:gridCol w="1964267">
                  <a:extLst>
                    <a:ext uri="{9D8B030D-6E8A-4147-A177-3AD203B41FA5}">
                      <a16:colId xmlns:a16="http://schemas.microsoft.com/office/drawing/2014/main" val="2800367551"/>
                    </a:ext>
                  </a:extLst>
                </a:gridCol>
                <a:gridCol w="1964267">
                  <a:extLst>
                    <a:ext uri="{9D8B030D-6E8A-4147-A177-3AD203B41FA5}">
                      <a16:colId xmlns:a16="http://schemas.microsoft.com/office/drawing/2014/main" val="3492175363"/>
                    </a:ext>
                  </a:extLst>
                </a:gridCol>
              </a:tblGrid>
              <a:tr h="3088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비교 항목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effectLst/>
                        </a:rPr>
                        <a:t>Default</a:t>
                      </a: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 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effectLst/>
                        </a:rPr>
                        <a:t>WAL </a:t>
                      </a:r>
                      <a:r>
                        <a:rPr lang="ko-KR" altLang="en-US" sz="1200" b="1" dirty="0">
                          <a:solidFill>
                            <a:srgbClr val="CCCCCC"/>
                          </a:solidFill>
                          <a:effectLst/>
                        </a:rPr>
                        <a:t>모드 </a:t>
                      </a:r>
                      <a:endParaRPr lang="en-US" altLang="ko-KR" sz="1200" b="1" dirty="0">
                        <a:solidFill>
                          <a:srgbClr val="CCCCCC"/>
                        </a:solidFill>
                        <a:effectLst/>
                      </a:endParaRP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4202439187"/>
                  </a:ext>
                </a:extLst>
              </a:tr>
              <a:tr h="31315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쓰기 방식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In-Place 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Append-Only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2310818"/>
                  </a:ext>
                </a:extLst>
              </a:tr>
              <a:tr h="31315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자료 구조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altLang="ko-KR" sz="1200" b="0" dirty="0" err="1">
                          <a:effectLst/>
                        </a:rPr>
                        <a:t>B+Tree</a:t>
                      </a:r>
                      <a:endParaRPr lang="ko-KR" altLang="en-US" sz="12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WAL </a:t>
                      </a:r>
                      <a:r>
                        <a:rPr lang="ko-KR" altLang="en-US" sz="1200" b="0" dirty="0">
                          <a:effectLst/>
                        </a:rPr>
                        <a:t>순차 추가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4000232"/>
                  </a:ext>
                </a:extLst>
              </a:tr>
              <a:tr h="313150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시간 복잡도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O(log 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O(1)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5958562"/>
                  </a:ext>
                </a:extLst>
              </a:tr>
              <a:tr h="54050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레코드당 비용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dirty="0">
                          <a:effectLst/>
                        </a:rPr>
                        <a:t>낮음 </a:t>
                      </a:r>
                      <a:endParaRPr lang="en-US" altLang="ko-KR" sz="1200" b="0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altLang="ko-KR" sz="1200" b="0" dirty="0">
                          <a:effectLst/>
                        </a:rPr>
                        <a:t>(RAM</a:t>
                      </a:r>
                      <a:r>
                        <a:rPr lang="ko-KR" altLang="en-US" sz="1200" b="0" dirty="0">
                          <a:effectLst/>
                        </a:rPr>
                        <a:t>에서 묶어서 처리</a:t>
                      </a:r>
                      <a:r>
                        <a:rPr lang="en-US" altLang="ko-KR" sz="1200" b="0" dirty="0">
                          <a:effectLst/>
                        </a:rPr>
                        <a:t>)</a:t>
                      </a:r>
                      <a:endParaRPr lang="ko-KR" altLang="en-US" sz="1200" b="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0" dirty="0">
                          <a:effectLst/>
                        </a:rPr>
                        <a:t>높음 </a:t>
                      </a:r>
                      <a:endParaRPr lang="en-US" altLang="ko-KR" sz="1200" b="0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sz="1200" b="0" dirty="0">
                          <a:effectLst/>
                        </a:rPr>
                        <a:t>(Checksum </a:t>
                      </a:r>
                      <a:r>
                        <a:rPr lang="en-US" altLang="ko-KR" sz="1200" b="0" dirty="0">
                          <a:effectLst/>
                        </a:rPr>
                        <a:t>+ </a:t>
                      </a:r>
                      <a:r>
                        <a:rPr lang="en-US" sz="1200" b="0" dirty="0">
                          <a:effectLst/>
                        </a:rPr>
                        <a:t>Framing)</a:t>
                      </a:r>
                      <a:endParaRPr lang="ko-KR" altLang="en-US" sz="1200" b="0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961454"/>
                  </a:ext>
                </a:extLst>
              </a:tr>
              <a:tr h="1003795"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최적 시나리오</a:t>
                      </a:r>
                      <a:endParaRPr lang="ko-KR" altLang="en-US" sz="12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대량 일괄 처리 </a:t>
                      </a:r>
                      <a:endParaRPr lang="en-US" altLang="ko-KR" sz="1200" b="1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altLang="ko-KR" sz="1200" b="1" dirty="0">
                          <a:effectLst/>
                        </a:rPr>
                        <a:t>(Batch Insert)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(</a:t>
                      </a:r>
                      <a:r>
                        <a:rPr lang="ko-KR" altLang="en-US" sz="1200" dirty="0">
                          <a:effectLst/>
                        </a:rPr>
                        <a:t>예</a:t>
                      </a:r>
                      <a:r>
                        <a:rPr lang="en-US" altLang="ko-KR" sz="1200" dirty="0">
                          <a:effectLst/>
                        </a:rPr>
                        <a:t>: 10</a:t>
                      </a:r>
                      <a:r>
                        <a:rPr lang="ko-KR" altLang="en-US" sz="1200" dirty="0">
                          <a:effectLst/>
                        </a:rPr>
                        <a:t>만 개씩 묶어서 저장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ase">
                        <a:buNone/>
                      </a:pPr>
                      <a:r>
                        <a:rPr lang="ko-KR" altLang="en-US" sz="1200" b="1" dirty="0">
                          <a:effectLst/>
                        </a:rPr>
                        <a:t>빈번한 소량 처리 </a:t>
                      </a:r>
                      <a:endParaRPr lang="en-US" altLang="ko-KR" sz="1200" b="1" dirty="0">
                        <a:effectLst/>
                      </a:endParaRPr>
                    </a:p>
                    <a:p>
                      <a:pPr algn="ctr" fontAlgn="base">
                        <a:buNone/>
                      </a:pPr>
                      <a:r>
                        <a:rPr lang="en-US" altLang="ko-KR" sz="1200" b="1" dirty="0">
                          <a:effectLst/>
                        </a:rPr>
                        <a:t>(Real-time)</a:t>
                      </a:r>
                    </a:p>
                    <a:p>
                      <a:pPr algn="ctr" fontAlgn="base">
                        <a:buNone/>
                      </a:pPr>
                      <a:r>
                        <a:rPr lang="en-US" altLang="ko-KR" sz="1200" dirty="0">
                          <a:effectLst/>
                        </a:rPr>
                        <a:t>(</a:t>
                      </a:r>
                      <a:r>
                        <a:rPr lang="ko-KR" altLang="en-US" sz="1200" dirty="0">
                          <a:effectLst/>
                        </a:rPr>
                        <a:t>예</a:t>
                      </a:r>
                      <a:r>
                        <a:rPr lang="en-US" altLang="ko-KR" sz="1200" dirty="0">
                          <a:effectLst/>
                        </a:rPr>
                        <a:t>: </a:t>
                      </a:r>
                      <a:r>
                        <a:rPr lang="ko-KR" altLang="en-US" sz="1200" dirty="0">
                          <a:effectLst/>
                        </a:rPr>
                        <a:t>센서 데이터 </a:t>
                      </a:r>
                      <a:r>
                        <a:rPr lang="en-US" altLang="ko-KR" sz="1200" dirty="0">
                          <a:effectLst/>
                        </a:rPr>
                        <a:t>1</a:t>
                      </a:r>
                      <a:r>
                        <a:rPr lang="ko-KR" altLang="en-US" sz="1200" dirty="0">
                          <a:effectLst/>
                        </a:rPr>
                        <a:t>건씩 저장</a:t>
                      </a:r>
                      <a:r>
                        <a:rPr lang="en-US" altLang="ko-KR" sz="1200" dirty="0">
                          <a:effectLst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01712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B110E1F5-1CDD-594B-701E-91DD66573564}"/>
              </a:ext>
            </a:extLst>
          </p:cNvPr>
          <p:cNvSpPr txBox="1"/>
          <p:nvPr/>
        </p:nvSpPr>
        <p:spPr>
          <a:xfrm>
            <a:off x="7660955" y="6498691"/>
            <a:ext cx="60944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4"/>
              </a:rPr>
              <a:t>https://www.bartoszsypytkowski.com/db-backup-point-in-time-recovery/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47607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94</Words>
  <Application>Microsoft Office PowerPoint</Application>
  <PresentationFormat>와이드스크린</PresentationFormat>
  <Paragraphs>27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 평화</dc:creator>
  <cp:lastModifiedBy>민 평화</cp:lastModifiedBy>
  <cp:revision>3</cp:revision>
  <dcterms:created xsi:type="dcterms:W3CDTF">2025-12-15T14:01:26Z</dcterms:created>
  <dcterms:modified xsi:type="dcterms:W3CDTF">2025-12-15T14:51:22Z</dcterms:modified>
</cp:coreProperties>
</file>