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FC689D-828B-1B99-EA67-D1C3C43741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A901179-7682-5190-46EC-A9DA350358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2DF130-480F-F567-CE26-820C238C2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736B64-9C9B-AFD2-7992-D343E5B19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0F857B-63EE-EA5C-94E3-C49C44E6D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029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8637F7-1A0F-648D-90FC-A3D98842E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7115CC-7A9B-5E0C-4301-28B9A990AC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CB0AE6-7571-B22D-ACB6-06C4F58F2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505435-EB72-1404-088A-BD9175697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C70EFD-2088-1EB8-8E1A-DF3D56DE2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831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09E0A6-FA8D-D5B6-BCA5-089A576ED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BB1831-3EB8-37C4-8023-E8F552A302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DF04CE-DB3F-9C34-D2F8-E7333EC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713AEF-FEF5-A8BD-CBAE-FAA469399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BBC959-8116-F0BE-8371-EEC9689DD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187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C87D7A-8650-EED8-DEA7-A104E3981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01C2F4-F99C-AF4F-2673-2AC3FF25B2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3A1A83-01F4-EF33-7A1E-32E381468B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14387C-986D-F6EB-A27A-793FD4DC9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4ECAF9F-8998-AB90-D056-EB06FBC11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4AF9D8-2CA3-C20E-D1ED-0D9A5ECB0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537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C7757C-B01C-69B0-4E36-F73A72839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E55751-EFA3-FE92-9901-CDD23D8DD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CA858F1-F91A-F0E8-9CC3-C7C6870AD0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0874601-C0E3-27CE-8B47-792A648BAF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823B14-BB4A-DFC2-F520-BDDAA04E5D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DAA5F20-C28A-D40A-5B3B-11733B1F3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11AE9F0-8382-7F3A-FFA7-D752CB38B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5E3ED2A-4851-F4F9-6C7E-C039DBD87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3842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66AB38-CBB1-EFC1-5467-1ADE8618C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EEBA12B-4C54-5BE7-3DF4-4037008E2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B7E4F67-F718-4930-DB61-2B7B46E73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659F789-61F2-921C-BC81-B337AE3C8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7341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A1F0CFE-5A61-7C4F-EFF5-A435D7257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AF33B60-C5FE-DD17-3DE5-1D4BFD468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B3E5E6-28D9-CD8C-10DA-EAE595FE7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5304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82CC51-59F9-654E-F3D3-6EEC7C510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493A86-E133-E117-DE89-728957E9B4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75A6180-B9C1-6CAD-1497-9C77BB6715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AD43261-31E4-1E8C-78E0-205DB1C1B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1CFA73C-1C80-91A9-6DA2-6033AD25C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CACF6F1-EA16-2C19-CC05-66C757641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221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0E7B1B-533A-79CC-9F48-5456221EC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944769C-A0F8-3684-CD8F-DBB6EA5658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10BDD6D-64D5-A24D-2482-8F7B392BFB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FEEDBB1-29A8-981F-D0C0-F503AD021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0877638-44AA-7A42-A1CE-85F9296B9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05D7483-BC46-1ECD-2634-26C60D5B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8942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EEDDBA-2AD3-8380-2FB2-4C5621C1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0FB8B0B-D652-281D-2B03-31B27ACC6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09280C1-F05A-4041-E781-498464A4F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F562F0-162E-EF52-A135-CA6E00FB0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0F8FFB-FBF1-A6FD-F4BE-B1B41E3C4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046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91388AF-8E4F-8D78-8A1D-CAB40DF1F5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62A45AF-7286-1EC1-BB3E-8A2613AE4F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6A6BED-EA87-A6F6-FC5B-65257CFCD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78D-1D9E-CEA6-2099-339CE6E97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E80287-AFE9-F936-7B24-95FF6DD7E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3332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505E228-2922-3F6F-3E78-7747766C3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BCE8B9-1748-9DA3-6CD1-9BB08E8B7C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FC05832-35A6-6469-5F1E-5BB0B4A6BE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939E0F-DFE3-4069-ACBF-5018C0FCBDE8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0745B75-1529-F965-3E4E-11B6909A74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13A0FE-E0BE-1B1B-C1EB-1ED459AD00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4009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ite.org/wal.html" TargetMode="External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junghwan17.tistory.com/entry/%EB%8D%B0%EC%9D%B4%ED%84%B0%EB%B2%A0%EC%9D%B4%EC%8A%A4-%EC%84%B1%EB%8A%A5%EC%9D%98-%EA%B7%BC%EB%B3%B8-%EB%94%94%EC%8A%A4%ED%81%AC-IO-%EB%A9%94%EC%BB%A4%EB%8B%88%EC%A6%98%EA%B3%BC-%EC%B5%9C%EC%A0%81%ED%99%94-%EC%A0%84%EB%9E%B5-%EC%8B%AC%EC%B8%B5-%EB%B6%84%EC%84%9D" TargetMode="External"/><Relationship Id="rId5" Type="http://schemas.openxmlformats.org/officeDocument/2006/relationships/hyperlink" Target="https://koreascience.kr/article/CFKO201529368418394.page" TargetMode="External"/><Relationship Id="rId4" Type="http://schemas.openxmlformats.org/officeDocument/2006/relationships/hyperlink" Target="mailto:https://koreascience.kr/article/CFKO201529368418394.page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F8731DD0-4F16-CB8D-CD4D-F84657D12E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6712467"/>
              </p:ext>
            </p:extLst>
          </p:nvPr>
        </p:nvGraphicFramePr>
        <p:xfrm>
          <a:off x="1209386" y="3065599"/>
          <a:ext cx="6641523" cy="25402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7559">
                  <a:extLst>
                    <a:ext uri="{9D8B030D-6E8A-4147-A177-3AD203B41FA5}">
                      <a16:colId xmlns:a16="http://schemas.microsoft.com/office/drawing/2014/main" val="2633589895"/>
                    </a:ext>
                  </a:extLst>
                </a:gridCol>
                <a:gridCol w="3417455">
                  <a:extLst>
                    <a:ext uri="{9D8B030D-6E8A-4147-A177-3AD203B41FA5}">
                      <a16:colId xmlns:a16="http://schemas.microsoft.com/office/drawing/2014/main" val="2800367551"/>
                    </a:ext>
                  </a:extLst>
                </a:gridCol>
                <a:gridCol w="1856509">
                  <a:extLst>
                    <a:ext uri="{9D8B030D-6E8A-4147-A177-3AD203B41FA5}">
                      <a16:colId xmlns:a16="http://schemas.microsoft.com/office/drawing/2014/main" val="3492175363"/>
                    </a:ext>
                  </a:extLst>
                </a:gridCol>
              </a:tblGrid>
              <a:tr h="3088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1" dirty="0">
                          <a:solidFill>
                            <a:srgbClr val="CCCCCC"/>
                          </a:solidFill>
                          <a:effectLst/>
                        </a:rPr>
                        <a:t>비교 항목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dirty="0">
                          <a:solidFill>
                            <a:srgbClr val="CCCCCC"/>
                          </a:solidFill>
                          <a:effectLst/>
                        </a:rPr>
                        <a:t>Default</a:t>
                      </a:r>
                      <a:r>
                        <a:rPr lang="ko-KR" altLang="en-US" sz="1200" b="1" dirty="0">
                          <a:solidFill>
                            <a:srgbClr val="CCCCCC"/>
                          </a:solidFill>
                          <a:effectLst/>
                        </a:rPr>
                        <a:t> </a:t>
                      </a:r>
                      <a:endParaRPr lang="en-US" altLang="ko-KR" sz="1200" b="1" dirty="0">
                        <a:solidFill>
                          <a:srgbClr val="CCCCCC"/>
                        </a:solidFill>
                        <a:effectLst/>
                      </a:endParaRP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dirty="0">
                          <a:solidFill>
                            <a:srgbClr val="CCCCCC"/>
                          </a:solidFill>
                          <a:effectLst/>
                        </a:rPr>
                        <a:t>WAL </a:t>
                      </a:r>
                      <a:r>
                        <a:rPr lang="ko-KR" altLang="en-US" sz="1200" b="1" dirty="0">
                          <a:solidFill>
                            <a:srgbClr val="CCCCCC"/>
                          </a:solidFill>
                          <a:effectLst/>
                        </a:rPr>
                        <a:t>모드 </a:t>
                      </a:r>
                      <a:endParaRPr lang="en-US" altLang="ko-KR" sz="1200" b="1" dirty="0">
                        <a:solidFill>
                          <a:srgbClr val="CCCCCC"/>
                        </a:solidFill>
                        <a:effectLst/>
                      </a:endParaRPr>
                    </a:p>
                  </a:txBody>
                  <a:tcPr anchor="b"/>
                </a:tc>
                <a:extLst>
                  <a:ext uri="{0D108BD9-81ED-4DB2-BD59-A6C34878D82A}">
                    <a16:rowId xmlns:a16="http://schemas.microsoft.com/office/drawing/2014/main" val="4202439187"/>
                  </a:ext>
                </a:extLst>
              </a:tr>
              <a:tr h="3131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1" dirty="0"/>
                        <a:t>파일 </a:t>
                      </a:r>
                      <a:r>
                        <a:rPr lang="en-US" sz="1200" b="1" dirty="0"/>
                        <a:t>I/O </a:t>
                      </a:r>
                      <a:r>
                        <a:rPr lang="ko-KR" altLang="en-US" sz="1200" b="1" dirty="0"/>
                        <a:t>방식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DB </a:t>
                      </a:r>
                      <a:r>
                        <a:rPr lang="ko-KR" altLang="en-US" sz="1200" dirty="0"/>
                        <a:t>파일 </a:t>
                      </a:r>
                      <a:r>
                        <a:rPr lang="en-US" sz="1200" dirty="0"/>
                        <a:t>Write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WAL </a:t>
                      </a:r>
                      <a:r>
                        <a:rPr lang="ko-KR" altLang="en-US" sz="1200" dirty="0"/>
                        <a:t>파일 </a:t>
                      </a:r>
                      <a:r>
                        <a:rPr lang="en-US" sz="1200" dirty="0"/>
                        <a:t>Append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2310818"/>
                  </a:ext>
                </a:extLst>
              </a:tr>
              <a:tr h="31887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1" dirty="0">
                          <a:effectLst/>
                        </a:rPr>
                        <a:t>디스크 </a:t>
                      </a:r>
                      <a:r>
                        <a:rPr lang="en-US" altLang="ko-KR" sz="1200" b="1" dirty="0">
                          <a:effectLst/>
                        </a:rPr>
                        <a:t>I/O</a:t>
                      </a:r>
                      <a:r>
                        <a:rPr lang="ko-KR" altLang="en-US" sz="1200" b="1" dirty="0">
                          <a:effectLst/>
                        </a:rPr>
                        <a:t> 패턴</a:t>
                      </a:r>
                      <a:endParaRPr lang="ko-KR" altLang="en-US" sz="12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dirty="0">
                          <a:effectLst/>
                        </a:rPr>
                        <a:t>랜덤 </a:t>
                      </a:r>
                      <a:r>
                        <a:rPr lang="en-US" altLang="ko-KR" sz="1200" b="0" dirty="0">
                          <a:effectLst/>
                        </a:rPr>
                        <a:t>I/O </a:t>
                      </a:r>
                    </a:p>
                    <a:p>
                      <a:pPr algn="ctr" fontAlgn="base">
                        <a:buNone/>
                      </a:pPr>
                      <a:r>
                        <a:rPr lang="en-US" altLang="ko-KR" sz="1200" b="0" dirty="0">
                          <a:effectLst/>
                        </a:rPr>
                        <a:t>(R</a:t>
                      </a:r>
                      <a:r>
                        <a:rPr lang="en-US" sz="1200" b="0" dirty="0">
                          <a:effectLst/>
                        </a:rPr>
                        <a:t>andom I/O)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순차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I/O </a:t>
                      </a:r>
                    </a:p>
                    <a:p>
                      <a:pPr algn="ctr" fontAlgn="base">
                        <a:buNone/>
                      </a:pP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(Sequential I/O)</a:t>
                      </a:r>
                      <a:endParaRPr lang="en-US" sz="1200" b="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4961454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1" dirty="0">
                          <a:effectLst/>
                        </a:rPr>
                        <a:t>쓰기 단계 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200" dirty="0"/>
                        <a:t>DB write </a:t>
                      </a:r>
                    </a:p>
                    <a:p>
                      <a:pPr algn="ctr" fontAlgn="base">
                        <a:buNone/>
                      </a:pPr>
                      <a:r>
                        <a:rPr lang="en-US" altLang="ko-KR" sz="1200" dirty="0"/>
                        <a:t>(1</a:t>
                      </a:r>
                      <a:r>
                        <a:rPr lang="ko-KR" altLang="en-US" sz="1200" dirty="0"/>
                        <a:t>단계</a:t>
                      </a:r>
                      <a:r>
                        <a:rPr lang="en-US" altLang="ko-KR" sz="1200" dirty="0"/>
                        <a:t>)</a:t>
                      </a:r>
                      <a:endParaRPr lang="en-US" sz="12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200" dirty="0"/>
                        <a:t>WAL write + DB write </a:t>
                      </a:r>
                    </a:p>
                    <a:p>
                      <a:pPr algn="ctr" fontAlgn="base">
                        <a:buNone/>
                      </a:pPr>
                      <a:r>
                        <a:rPr lang="en-US" altLang="ko-KR" sz="1200" dirty="0"/>
                        <a:t>(2</a:t>
                      </a:r>
                      <a:r>
                        <a:rPr lang="ko-KR" altLang="en-US" sz="1200" dirty="0"/>
                        <a:t>단계</a:t>
                      </a:r>
                      <a:r>
                        <a:rPr lang="en-US" altLang="ko-KR" sz="1200" dirty="0"/>
                        <a:t>)</a:t>
                      </a:r>
                      <a:endParaRPr lang="en-US" sz="1200" b="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6226940"/>
                  </a:ext>
                </a:extLst>
              </a:tr>
              <a:tr h="100379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1" dirty="0">
                          <a:effectLst/>
                        </a:rPr>
                        <a:t>최적 시나리오</a:t>
                      </a:r>
                      <a:endParaRPr lang="ko-KR" altLang="en-US" sz="12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1" dirty="0">
                          <a:effectLst/>
                        </a:rPr>
                        <a:t>대량 일괄 처리 </a:t>
                      </a:r>
                      <a:endParaRPr lang="en-US" altLang="ko-KR" sz="1200" b="1" dirty="0">
                        <a:effectLst/>
                      </a:endParaRPr>
                    </a:p>
                    <a:p>
                      <a:pPr algn="ctr" fontAlgn="base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(</a:t>
                      </a:r>
                      <a:r>
                        <a:rPr lang="ko-KR" altLang="en-US" sz="1200" dirty="0">
                          <a:effectLst/>
                        </a:rPr>
                        <a:t>예</a:t>
                      </a:r>
                      <a:r>
                        <a:rPr lang="en-US" altLang="ko-KR" sz="1200" dirty="0">
                          <a:effectLst/>
                        </a:rPr>
                        <a:t>: 10</a:t>
                      </a:r>
                      <a:r>
                        <a:rPr lang="ko-KR" altLang="en-US" sz="1200" dirty="0">
                          <a:effectLst/>
                        </a:rPr>
                        <a:t>만 개씩 묶어서 저장</a:t>
                      </a:r>
                      <a:r>
                        <a:rPr lang="en-US" altLang="ko-KR" sz="1200" dirty="0">
                          <a:effectLst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1" dirty="0">
                          <a:effectLst/>
                        </a:rPr>
                        <a:t>빈번한 소량 처리 </a:t>
                      </a:r>
                      <a:endParaRPr lang="en-US" altLang="ko-KR" sz="1200" b="1" dirty="0">
                        <a:effectLst/>
                      </a:endParaRPr>
                    </a:p>
                    <a:p>
                      <a:pPr algn="ctr" fontAlgn="base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(</a:t>
                      </a:r>
                      <a:r>
                        <a:rPr lang="ko-KR" altLang="en-US" sz="1200" dirty="0">
                          <a:effectLst/>
                        </a:rPr>
                        <a:t>예</a:t>
                      </a:r>
                      <a:r>
                        <a:rPr lang="en-US" altLang="ko-KR" sz="1200" dirty="0">
                          <a:effectLst/>
                        </a:rPr>
                        <a:t>: </a:t>
                      </a:r>
                      <a:r>
                        <a:rPr lang="ko-KR" altLang="en-US" sz="1200" dirty="0">
                          <a:effectLst/>
                        </a:rPr>
                        <a:t>센서 데이터 </a:t>
                      </a:r>
                      <a:r>
                        <a:rPr lang="en-US" altLang="ko-KR" sz="1200" dirty="0">
                          <a:effectLst/>
                        </a:rPr>
                        <a:t>1</a:t>
                      </a:r>
                      <a:r>
                        <a:rPr lang="ko-KR" altLang="en-US" sz="1200" dirty="0">
                          <a:effectLst/>
                        </a:rPr>
                        <a:t>건씩 저장</a:t>
                      </a:r>
                      <a:r>
                        <a:rPr lang="en-US" altLang="ko-KR" sz="1200" dirty="0">
                          <a:effectLst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017128"/>
                  </a:ext>
                </a:extLst>
              </a:tr>
            </a:tbl>
          </a:graphicData>
        </a:graphic>
      </p:graphicFrame>
      <p:pic>
        <p:nvPicPr>
          <p:cNvPr id="3" name="그림 2" descr="폰트, 도표, 라인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F3EA2B-9056-2D70-8F65-F17CCD246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6330" y="200229"/>
            <a:ext cx="4286250" cy="26003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A17590-BD44-4E8F-8539-F937A78BA474}"/>
              </a:ext>
            </a:extLst>
          </p:cNvPr>
          <p:cNvSpPr txBox="1"/>
          <p:nvPr/>
        </p:nvSpPr>
        <p:spPr>
          <a:xfrm>
            <a:off x="7660955" y="6092717"/>
            <a:ext cx="68764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1" dirty="0">
                <a:hlinkClick r:id="rId3"/>
              </a:rPr>
              <a:t>SQLite WAL(Write-Ahead Logging) </a:t>
            </a:r>
            <a:r>
              <a:rPr lang="ko-KR" altLang="en-US" sz="900" b="1" dirty="0">
                <a:hlinkClick r:id="rId3"/>
              </a:rPr>
              <a:t>모드 공식 설명</a:t>
            </a:r>
            <a:endParaRPr lang="en-US" altLang="ko-KR" sz="900" b="1" dirty="0">
              <a:hlinkClick r:id="rId4"/>
            </a:endParaRPr>
          </a:p>
          <a:p>
            <a:r>
              <a:rPr lang="en-US" altLang="ko-KR" sz="900" b="1" dirty="0">
                <a:hlinkClick r:id="rId5"/>
              </a:rPr>
              <a:t>SQLite</a:t>
            </a:r>
            <a:r>
              <a:rPr lang="ko-KR" altLang="en-US" sz="900" b="1" dirty="0">
                <a:hlinkClick r:id="rId5"/>
              </a:rPr>
              <a:t>기반 애플리케이션에서 롤백 저널 모드와 </a:t>
            </a:r>
            <a:r>
              <a:rPr lang="en-US" altLang="ko-KR" sz="900" b="1" dirty="0">
                <a:hlinkClick r:id="rId5"/>
              </a:rPr>
              <a:t>WAL </a:t>
            </a:r>
            <a:r>
              <a:rPr lang="ko-KR" altLang="en-US" sz="900" b="1" dirty="0">
                <a:hlinkClick r:id="rId5"/>
              </a:rPr>
              <a:t>모드의 성능 비교 분석</a:t>
            </a:r>
            <a:endParaRPr lang="en-US" altLang="ko-KR" sz="900" b="1" dirty="0"/>
          </a:p>
          <a:p>
            <a:r>
              <a:rPr lang="ko-KR" altLang="en-US" sz="900" b="1" dirty="0">
                <a:hlinkClick r:id="rId6"/>
              </a:rPr>
              <a:t>데이터베이스 성능의 근본</a:t>
            </a:r>
            <a:r>
              <a:rPr lang="en-US" altLang="ko-KR" sz="900" b="1" dirty="0">
                <a:hlinkClick r:id="rId6"/>
              </a:rPr>
              <a:t>: </a:t>
            </a:r>
            <a:r>
              <a:rPr lang="ko-KR" altLang="en-US" sz="900" b="1" dirty="0">
                <a:hlinkClick r:id="rId6"/>
              </a:rPr>
              <a:t>디스크</a:t>
            </a:r>
            <a:r>
              <a:rPr lang="en-US" altLang="ko-KR" sz="900" b="1" dirty="0">
                <a:hlinkClick r:id="rId6"/>
              </a:rPr>
              <a:t>I/O </a:t>
            </a:r>
            <a:r>
              <a:rPr lang="ko-KR" altLang="en-US" sz="900" b="1" dirty="0">
                <a:hlinkClick r:id="rId6"/>
              </a:rPr>
              <a:t>메커니즘과 최적화 전략 심층 분석</a:t>
            </a:r>
            <a:endParaRPr lang="en-US" altLang="ko-KR" sz="9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F1471D-33DD-1B6B-882A-59B18A842E86}"/>
              </a:ext>
            </a:extLst>
          </p:cNvPr>
          <p:cNvSpPr txBox="1"/>
          <p:nvPr/>
        </p:nvSpPr>
        <p:spPr>
          <a:xfrm>
            <a:off x="7660955" y="5775035"/>
            <a:ext cx="1431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참고 자료</a:t>
            </a:r>
          </a:p>
        </p:txBody>
      </p:sp>
      <p:pic>
        <p:nvPicPr>
          <p:cNvPr id="15" name="그림 14" descr="텍스트, 도표, 평면도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975CA76-43F0-05AB-EB12-FB74C573DA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9386" y="202521"/>
            <a:ext cx="4286250" cy="2602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476075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7AD1255-7891-4F46-D149-43AFABE3A3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766671"/>
              </p:ext>
            </p:extLst>
          </p:nvPr>
        </p:nvGraphicFramePr>
        <p:xfrm>
          <a:off x="1209386" y="3065599"/>
          <a:ext cx="6641523" cy="12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7559">
                  <a:extLst>
                    <a:ext uri="{9D8B030D-6E8A-4147-A177-3AD203B41FA5}">
                      <a16:colId xmlns:a16="http://schemas.microsoft.com/office/drawing/2014/main" val="2633589895"/>
                    </a:ext>
                  </a:extLst>
                </a:gridCol>
                <a:gridCol w="3417455">
                  <a:extLst>
                    <a:ext uri="{9D8B030D-6E8A-4147-A177-3AD203B41FA5}">
                      <a16:colId xmlns:a16="http://schemas.microsoft.com/office/drawing/2014/main" val="2800367551"/>
                    </a:ext>
                  </a:extLst>
                </a:gridCol>
                <a:gridCol w="1856509">
                  <a:extLst>
                    <a:ext uri="{9D8B030D-6E8A-4147-A177-3AD203B41FA5}">
                      <a16:colId xmlns:a16="http://schemas.microsoft.com/office/drawing/2014/main" val="3492175363"/>
                    </a:ext>
                  </a:extLst>
                </a:gridCol>
              </a:tblGrid>
              <a:tr h="3088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1" dirty="0">
                          <a:solidFill>
                            <a:srgbClr val="CCCCCC"/>
                          </a:solidFill>
                          <a:effectLst/>
                        </a:rPr>
                        <a:t>번호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1" dirty="0">
                          <a:solidFill>
                            <a:srgbClr val="CCCCCC"/>
                          </a:solidFill>
                          <a:effectLst/>
                        </a:rPr>
                        <a:t>대응 방안</a:t>
                      </a:r>
                      <a:endParaRPr lang="en-US" altLang="ko-KR" sz="1200" b="1" dirty="0">
                        <a:solidFill>
                          <a:srgbClr val="CCCCCC"/>
                        </a:solidFill>
                        <a:effectLst/>
                      </a:endParaRP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1" dirty="0">
                          <a:solidFill>
                            <a:srgbClr val="CCCCCC"/>
                          </a:solidFill>
                          <a:effectLst/>
                        </a:rPr>
                        <a:t>적용시점</a:t>
                      </a:r>
                      <a:endParaRPr lang="en-US" altLang="ko-KR" sz="1200" b="1" dirty="0">
                        <a:solidFill>
                          <a:srgbClr val="CCCCCC"/>
                        </a:solidFill>
                        <a:effectLst/>
                      </a:endParaRPr>
                    </a:p>
                  </a:txBody>
                  <a:tcPr anchor="b"/>
                </a:tc>
                <a:extLst>
                  <a:ext uri="{0D108BD9-81ED-4DB2-BD59-A6C34878D82A}">
                    <a16:rowId xmlns:a16="http://schemas.microsoft.com/office/drawing/2014/main" val="4202439187"/>
                  </a:ext>
                </a:extLst>
              </a:tr>
              <a:tr h="3131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b="1" dirty="0"/>
                        <a:t>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dirty="0"/>
                        <a:t>자동 체크포인트 비활성화 방지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/>
                        <a:t>DB </a:t>
                      </a:r>
                      <a:r>
                        <a:rPr lang="ko-KR" altLang="en-US" sz="1200" dirty="0"/>
                        <a:t>생성 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2310818"/>
                  </a:ext>
                </a:extLst>
              </a:tr>
              <a:tr h="31887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200" b="1" dirty="0">
                          <a:effectLst/>
                        </a:rPr>
                        <a:t>2</a:t>
                      </a:r>
                      <a:endParaRPr lang="ko-KR" altLang="en-US" sz="12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200" dirty="0"/>
                        <a:t>SQLITE_CHECKPOINT_RESTART</a:t>
                      </a:r>
                      <a:endParaRPr lang="en-US" sz="12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dirty="0"/>
                        <a:t>특정 시점에 실행</a:t>
                      </a:r>
                      <a:endParaRPr lang="en-US" sz="1200" b="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4961454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200" b="1" dirty="0">
                          <a:effectLst/>
                        </a:rPr>
                        <a:t>3</a:t>
                      </a:r>
                      <a:endParaRPr lang="ko-KR" altLang="en-US" sz="12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200" dirty="0"/>
                        <a:t>SQLITE_CHECKPOINT_TRUNCATE</a:t>
                      </a:r>
                      <a:endParaRPr lang="en-US" sz="12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dirty="0"/>
                        <a:t>특정 시점에 실행</a:t>
                      </a:r>
                      <a:endParaRPr lang="en-US" sz="1200" b="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6226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1899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149</Words>
  <Application>Microsoft Office PowerPoint</Application>
  <PresentationFormat>와이드스크린</PresentationFormat>
  <Paragraphs>37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민 평화</dc:creator>
  <cp:lastModifiedBy>민 평화</cp:lastModifiedBy>
  <cp:revision>5</cp:revision>
  <dcterms:created xsi:type="dcterms:W3CDTF">2025-12-15T14:01:26Z</dcterms:created>
  <dcterms:modified xsi:type="dcterms:W3CDTF">2025-12-17T15:58:54Z</dcterms:modified>
</cp:coreProperties>
</file>