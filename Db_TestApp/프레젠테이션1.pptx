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4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AFC689D-828B-1B99-EA67-D1C3C43741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A901179-7682-5190-46EC-A9DA350358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82DF130-480F-F567-CE26-820C238C21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39E0F-DFE3-4069-ACBF-5018C0FCBDE8}" type="datetimeFigureOut">
              <a:rPr lang="ko-KR" altLang="en-US" smtClean="0"/>
              <a:t>2025-12-17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4736B64-9C9B-AFD2-7992-D343E5B19B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20F857B-63EE-EA5C-94E3-C49C44E6D4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520DD-C5B1-4D3D-AB68-3C74018AB3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30290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A8637F7-1A0F-648D-90FC-A3D98842E9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7115CC-7A9B-5E0C-4301-28B9A990AC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ACB0AE6-7571-B22D-ACB6-06C4F58F2E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39E0F-DFE3-4069-ACBF-5018C0FCBDE8}" type="datetimeFigureOut">
              <a:rPr lang="ko-KR" altLang="en-US" smtClean="0"/>
              <a:t>2025-12-17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D505435-EB72-1404-088A-BD9175697F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FC70EFD-2088-1EB8-8E1A-DF3D56DE25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520DD-C5B1-4D3D-AB68-3C74018AB3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8313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809E0A6-FA8D-D5B6-BCA5-089A576EDA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ABB1831-3EB8-37C4-8023-E8F552A302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ADF04CE-DB3F-9C34-D2F8-E7333EC123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39E0F-DFE3-4069-ACBF-5018C0FCBDE8}" type="datetimeFigureOut">
              <a:rPr lang="ko-KR" altLang="en-US" smtClean="0"/>
              <a:t>2025-12-17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9713AEF-FEF5-A8BD-CBAE-FAA4693999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FBBC959-8116-F0BE-8371-EEC9689DD2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520DD-C5B1-4D3D-AB68-3C74018AB3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131877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DC87D7A-8650-EED8-DEA7-A104E39814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201C2F4-F99C-AF4F-2673-2AC3FF25B21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63A1A83-01F4-EF33-7A1E-32E381468B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014387C-986D-F6EB-A27A-793FD4DC9C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39E0F-DFE3-4069-ACBF-5018C0FCBDE8}" type="datetimeFigureOut">
              <a:rPr lang="ko-KR" altLang="en-US" smtClean="0"/>
              <a:t>2025-12-17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4ECAF9F-8998-AB90-D056-EB06FBC115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D4AF9D8-2CA3-C20E-D1ED-0D9A5ECB0C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520DD-C5B1-4D3D-AB68-3C74018AB3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45376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7C7757C-B01C-69B0-4E36-F73A728397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7E55751-EFA3-FE92-9901-CDD23D8DD7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CA858F1-F91A-F0E8-9CC3-C7C6870AD0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C0874601-C0E3-27CE-8B47-792A648BAF5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A823B14-BB4A-DFC2-F520-BDDAA04E5DE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5DAA5F20-C28A-D40A-5B3B-11733B1F3C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39E0F-DFE3-4069-ACBF-5018C0FCBDE8}" type="datetimeFigureOut">
              <a:rPr lang="ko-KR" altLang="en-US" smtClean="0"/>
              <a:t>2025-12-17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A11AE9F0-8382-7F3A-FFA7-D752CB38B7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95E3ED2A-4851-F4F9-6C7E-C039DBD87E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520DD-C5B1-4D3D-AB68-3C74018AB3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638427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666AB38-CBB1-EFC1-5467-1ADE8618C9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EEBA12B-4C54-5BE7-3DF4-4037008E23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39E0F-DFE3-4069-ACBF-5018C0FCBDE8}" type="datetimeFigureOut">
              <a:rPr lang="ko-KR" altLang="en-US" smtClean="0"/>
              <a:t>2025-12-17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B7E4F67-F718-4930-DB61-2B7B46E73A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659F789-61F2-921C-BC81-B337AE3C8B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520DD-C5B1-4D3D-AB68-3C74018AB3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073417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FA1F0CFE-5A61-7C4F-EFF5-A435D7257A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39E0F-DFE3-4069-ACBF-5018C0FCBDE8}" type="datetimeFigureOut">
              <a:rPr lang="ko-KR" altLang="en-US" smtClean="0"/>
              <a:t>2025-12-17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7AF33B60-C5FE-DD17-3DE5-1D4BFD468C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5B3E5E6-28D9-CD8C-10DA-EAE595FE74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520DD-C5B1-4D3D-AB68-3C74018AB3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53048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82CC51-59F9-654E-F3D3-6EEC7C510C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4493A86-E133-E117-DE89-728957E9B4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75A6180-B9C1-6CAD-1497-9C77BB6715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AD43261-31E4-1E8C-78E0-205DB1C1B5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39E0F-DFE3-4069-ACBF-5018C0FCBDE8}" type="datetimeFigureOut">
              <a:rPr lang="ko-KR" altLang="en-US" smtClean="0"/>
              <a:t>2025-12-17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1CFA73C-1C80-91A9-6DA2-6033AD25C2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CACF6F1-EA16-2C19-CC05-66C7576410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520DD-C5B1-4D3D-AB68-3C74018AB3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2218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10E7B1B-533A-79CC-9F48-5456221EC6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2944769C-A0F8-3684-CD8F-DBB6EA56588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10BDD6D-64D5-A24D-2482-8F7B392BFB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FEEDBB1-29A8-981F-D0C0-F503AD0213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39E0F-DFE3-4069-ACBF-5018C0FCBDE8}" type="datetimeFigureOut">
              <a:rPr lang="ko-KR" altLang="en-US" smtClean="0"/>
              <a:t>2025-12-17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0877638-44AA-7A42-A1CE-85F9296B99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05D7483-BC46-1ECD-2634-26C60D5B6D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520DD-C5B1-4D3D-AB68-3C74018AB3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789426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DEEDDBA-2AD3-8380-2FB2-4C5621C17D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0FB8B0B-D652-281D-2B03-31B27ACC6D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09280C1-F05A-4041-E781-498464A4F4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39E0F-DFE3-4069-ACBF-5018C0FCBDE8}" type="datetimeFigureOut">
              <a:rPr lang="ko-KR" altLang="en-US" smtClean="0"/>
              <a:t>2025-12-17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AF562F0-162E-EF52-A135-CA6E00FB0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20F8FFB-FBF1-A6FD-F4BE-B1B41E3C47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520DD-C5B1-4D3D-AB68-3C74018AB3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00463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491388AF-8E4F-8D78-8A1D-CAB40DF1F5E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62A45AF-7286-1EC1-BB3E-8A2613AE4F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F6A6BED-EA87-A6F6-FC5B-65257CFCD7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39E0F-DFE3-4069-ACBF-5018C0FCBDE8}" type="datetimeFigureOut">
              <a:rPr lang="ko-KR" altLang="en-US" smtClean="0"/>
              <a:t>2025-12-17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B7CF78D-1D9E-CEA6-2099-339CE6E973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7E80287-AFE9-F936-7B24-95FF6DD7EF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520DD-C5B1-4D3D-AB68-3C74018AB3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73332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505E228-2922-3F6F-3E78-7747766C38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BBCE8B9-1748-9DA3-6CD1-9BB08E8B7C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FC05832-35A6-6469-5F1E-5BB0B4A6BEA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2939E0F-DFE3-4069-ACBF-5018C0FCBDE8}" type="datetimeFigureOut">
              <a:rPr lang="ko-KR" altLang="en-US" smtClean="0"/>
              <a:t>2025-12-17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0745B75-1529-F965-3E4E-11B6909A74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413A0FE-E0BE-1B1B-C1EB-1ED459AD00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F3520DD-C5B1-4D3D-AB68-3C74018AB3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40090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www.bartoszsypytkowski.com/db-backup-point-in-time-recovery/" TargetMode="Externa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hyperlink" Target="https://csg1353.tistory.com/154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표 15">
            <a:extLst>
              <a:ext uri="{FF2B5EF4-FFF2-40B4-BE49-F238E27FC236}">
                <a16:creationId xmlns:a16="http://schemas.microsoft.com/office/drawing/2014/main" id="{F8731DD0-4F16-CB8D-CD4D-F84657D12E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4115528"/>
              </p:ext>
            </p:extLst>
          </p:nvPr>
        </p:nvGraphicFramePr>
        <p:xfrm>
          <a:off x="1209386" y="3065599"/>
          <a:ext cx="6641523" cy="25402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7559">
                  <a:extLst>
                    <a:ext uri="{9D8B030D-6E8A-4147-A177-3AD203B41FA5}">
                      <a16:colId xmlns:a16="http://schemas.microsoft.com/office/drawing/2014/main" val="2633589895"/>
                    </a:ext>
                  </a:extLst>
                </a:gridCol>
                <a:gridCol w="3417455">
                  <a:extLst>
                    <a:ext uri="{9D8B030D-6E8A-4147-A177-3AD203B41FA5}">
                      <a16:colId xmlns:a16="http://schemas.microsoft.com/office/drawing/2014/main" val="2800367551"/>
                    </a:ext>
                  </a:extLst>
                </a:gridCol>
                <a:gridCol w="1856509">
                  <a:extLst>
                    <a:ext uri="{9D8B030D-6E8A-4147-A177-3AD203B41FA5}">
                      <a16:colId xmlns:a16="http://schemas.microsoft.com/office/drawing/2014/main" val="3492175363"/>
                    </a:ext>
                  </a:extLst>
                </a:gridCol>
              </a:tblGrid>
              <a:tr h="30886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altLang="en-US" sz="1200" b="1" dirty="0">
                          <a:solidFill>
                            <a:srgbClr val="CCCCCC"/>
                          </a:solidFill>
                          <a:effectLst/>
                        </a:rPr>
                        <a:t>비교 항목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dirty="0">
                          <a:solidFill>
                            <a:srgbClr val="CCCCCC"/>
                          </a:solidFill>
                          <a:effectLst/>
                        </a:rPr>
                        <a:t>Default</a:t>
                      </a:r>
                      <a:r>
                        <a:rPr lang="ko-KR" altLang="en-US" sz="1200" b="1" dirty="0">
                          <a:solidFill>
                            <a:srgbClr val="CCCCCC"/>
                          </a:solidFill>
                          <a:effectLst/>
                        </a:rPr>
                        <a:t> </a:t>
                      </a:r>
                      <a:endParaRPr lang="en-US" altLang="ko-KR" sz="1200" b="1" dirty="0">
                        <a:solidFill>
                          <a:srgbClr val="CCCCCC"/>
                        </a:solidFill>
                        <a:effectLst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dirty="0">
                          <a:solidFill>
                            <a:srgbClr val="CCCCCC"/>
                          </a:solidFill>
                          <a:effectLst/>
                        </a:rPr>
                        <a:t>WAL </a:t>
                      </a:r>
                      <a:r>
                        <a:rPr lang="ko-KR" altLang="en-US" sz="1200" b="1" dirty="0">
                          <a:solidFill>
                            <a:srgbClr val="CCCCCC"/>
                          </a:solidFill>
                          <a:effectLst/>
                        </a:rPr>
                        <a:t>모드 </a:t>
                      </a:r>
                      <a:endParaRPr lang="en-US" altLang="ko-KR" sz="1200" b="1" dirty="0">
                        <a:solidFill>
                          <a:srgbClr val="CCCCCC"/>
                        </a:solidFill>
                        <a:effectLst/>
                      </a:endParaRPr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4202439187"/>
                  </a:ext>
                </a:extLst>
              </a:tr>
              <a:tr h="3131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200" b="1" dirty="0"/>
                        <a:t>파일 </a:t>
                      </a:r>
                      <a:r>
                        <a:rPr lang="en-US" sz="1200" b="1" dirty="0"/>
                        <a:t>I/O </a:t>
                      </a:r>
                      <a:r>
                        <a:rPr lang="ko-KR" altLang="en-US" sz="1200" b="1" dirty="0"/>
                        <a:t>방식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/>
                        <a:t>DB </a:t>
                      </a:r>
                      <a:r>
                        <a:rPr lang="ko-KR" altLang="en-US" sz="1200" dirty="0"/>
                        <a:t>파일 직접 </a:t>
                      </a:r>
                      <a:r>
                        <a:rPr lang="en-US" sz="1200" dirty="0"/>
                        <a:t>overwrite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/>
                        <a:t>WAL </a:t>
                      </a:r>
                      <a:r>
                        <a:rPr lang="ko-KR" altLang="en-US" sz="1200" dirty="0"/>
                        <a:t>파일 </a:t>
                      </a:r>
                      <a:r>
                        <a:rPr lang="en-US" sz="1200" dirty="0"/>
                        <a:t>Append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12310818"/>
                  </a:ext>
                </a:extLst>
              </a:tr>
              <a:tr h="318870">
                <a:tc>
                  <a:txBody>
                    <a:bodyPr/>
                    <a:lstStyle/>
                    <a:p>
                      <a:pPr algn="ctr" fontAlgn="base">
                        <a:buNone/>
                      </a:pPr>
                      <a:r>
                        <a:rPr lang="ko-KR" altLang="en-US" sz="1200" b="1" dirty="0">
                          <a:effectLst/>
                        </a:rPr>
                        <a:t>디스크 </a:t>
                      </a:r>
                      <a:r>
                        <a:rPr lang="en-US" altLang="ko-KR" sz="1200" b="1" dirty="0">
                          <a:effectLst/>
                        </a:rPr>
                        <a:t>I/O</a:t>
                      </a:r>
                      <a:r>
                        <a:rPr lang="ko-KR" altLang="en-US" sz="1200" b="1" dirty="0">
                          <a:effectLst/>
                        </a:rPr>
                        <a:t> 패턴</a:t>
                      </a:r>
                      <a:endParaRPr lang="ko-KR" altLang="en-US" sz="1200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ase">
                        <a:buNone/>
                      </a:pPr>
                      <a:r>
                        <a:rPr lang="ko-KR" altLang="en-US" sz="1200" b="0" dirty="0">
                          <a:effectLst/>
                        </a:rPr>
                        <a:t>랜덤 </a:t>
                      </a:r>
                      <a:r>
                        <a:rPr lang="en-US" altLang="ko-KR" sz="1200" b="0" dirty="0">
                          <a:effectLst/>
                        </a:rPr>
                        <a:t>I/O </a:t>
                      </a:r>
                    </a:p>
                    <a:p>
                      <a:pPr algn="ctr" fontAlgn="base">
                        <a:buNone/>
                      </a:pPr>
                      <a:r>
                        <a:rPr lang="en-US" altLang="ko-KR" sz="1200" b="0" dirty="0">
                          <a:effectLst/>
                        </a:rPr>
                        <a:t>(R</a:t>
                      </a:r>
                      <a:r>
                        <a:rPr lang="en-US" sz="1200" b="0" dirty="0">
                          <a:effectLst/>
                        </a:rPr>
                        <a:t>andom I/O)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ase">
                        <a:buNone/>
                      </a:pPr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순차 </a:t>
                      </a:r>
                      <a:r>
                        <a:rPr lang="en-US" altLang="ko-KR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I/O </a:t>
                      </a:r>
                    </a:p>
                    <a:p>
                      <a:pPr algn="ctr" fontAlgn="base">
                        <a:buNone/>
                      </a:pPr>
                      <a:r>
                        <a:rPr lang="en-US" altLang="ko-KR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(Sequential I/O)</a:t>
                      </a:r>
                      <a:endParaRPr lang="en-US" sz="1200" b="0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54961454"/>
                  </a:ext>
                </a:extLst>
              </a:tr>
              <a:tr h="137160">
                <a:tc>
                  <a:txBody>
                    <a:bodyPr/>
                    <a:lstStyle/>
                    <a:p>
                      <a:pPr algn="ctr" fontAlgn="base">
                        <a:buNone/>
                      </a:pPr>
                      <a:r>
                        <a:rPr lang="ko-KR" altLang="en-US" sz="1200" b="1" dirty="0">
                          <a:effectLst/>
                        </a:rPr>
                        <a:t>쓰기 단계 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ase">
                        <a:buNone/>
                      </a:pPr>
                      <a:r>
                        <a:rPr lang="en-US" altLang="ko-KR" sz="1200" dirty="0"/>
                        <a:t>DB write </a:t>
                      </a:r>
                    </a:p>
                    <a:p>
                      <a:pPr algn="ctr" fontAlgn="base">
                        <a:buNone/>
                      </a:pPr>
                      <a:r>
                        <a:rPr lang="en-US" altLang="ko-KR" sz="1200" dirty="0"/>
                        <a:t>(1</a:t>
                      </a:r>
                      <a:r>
                        <a:rPr lang="ko-KR" altLang="en-US" sz="1200" dirty="0"/>
                        <a:t>단계</a:t>
                      </a:r>
                      <a:r>
                        <a:rPr lang="en-US" altLang="ko-KR" sz="1200" dirty="0"/>
                        <a:t>)</a:t>
                      </a:r>
                      <a:endParaRPr lang="en-US" sz="1200" b="0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ase">
                        <a:buNone/>
                      </a:pPr>
                      <a:r>
                        <a:rPr lang="en-US" altLang="ko-KR" sz="1200" dirty="0"/>
                        <a:t>WAL write + DB write </a:t>
                      </a:r>
                    </a:p>
                    <a:p>
                      <a:pPr algn="ctr" fontAlgn="base">
                        <a:buNone/>
                      </a:pPr>
                      <a:r>
                        <a:rPr lang="en-US" altLang="ko-KR" sz="1200" dirty="0"/>
                        <a:t>(2</a:t>
                      </a:r>
                      <a:r>
                        <a:rPr lang="ko-KR" altLang="en-US" sz="1200" dirty="0"/>
                        <a:t>단계</a:t>
                      </a:r>
                      <a:r>
                        <a:rPr lang="en-US" altLang="ko-KR" sz="1200" dirty="0"/>
                        <a:t>)</a:t>
                      </a:r>
                      <a:endParaRPr lang="en-US" sz="1200" b="0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76226940"/>
                  </a:ext>
                </a:extLst>
              </a:tr>
              <a:tr h="1003795">
                <a:tc>
                  <a:txBody>
                    <a:bodyPr/>
                    <a:lstStyle/>
                    <a:p>
                      <a:pPr algn="ctr" fontAlgn="base">
                        <a:buNone/>
                      </a:pPr>
                      <a:r>
                        <a:rPr lang="ko-KR" altLang="en-US" sz="1200" b="1" dirty="0">
                          <a:effectLst/>
                        </a:rPr>
                        <a:t>최적 시나리오</a:t>
                      </a:r>
                      <a:endParaRPr lang="ko-KR" altLang="en-US" sz="1200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ase">
                        <a:buNone/>
                      </a:pPr>
                      <a:r>
                        <a:rPr lang="ko-KR" altLang="en-US" sz="1200" b="1" dirty="0">
                          <a:effectLst/>
                        </a:rPr>
                        <a:t>대량 일괄 처리 </a:t>
                      </a:r>
                      <a:endParaRPr lang="en-US" altLang="ko-KR" sz="1200" b="1" dirty="0">
                        <a:effectLst/>
                      </a:endParaRPr>
                    </a:p>
                    <a:p>
                      <a:pPr algn="ctr" fontAlgn="base">
                        <a:buNone/>
                      </a:pPr>
                      <a:r>
                        <a:rPr lang="en-US" altLang="ko-KR" sz="1200" dirty="0">
                          <a:effectLst/>
                        </a:rPr>
                        <a:t>(</a:t>
                      </a:r>
                      <a:r>
                        <a:rPr lang="ko-KR" altLang="en-US" sz="1200" dirty="0">
                          <a:effectLst/>
                        </a:rPr>
                        <a:t>예</a:t>
                      </a:r>
                      <a:r>
                        <a:rPr lang="en-US" altLang="ko-KR" sz="1200" dirty="0">
                          <a:effectLst/>
                        </a:rPr>
                        <a:t>: 10</a:t>
                      </a:r>
                      <a:r>
                        <a:rPr lang="ko-KR" altLang="en-US" sz="1200" dirty="0">
                          <a:effectLst/>
                        </a:rPr>
                        <a:t>만 개씩 묶어서 저장</a:t>
                      </a:r>
                      <a:r>
                        <a:rPr lang="en-US" altLang="ko-KR" sz="1200" dirty="0">
                          <a:effectLst/>
                        </a:rPr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ase">
                        <a:buNone/>
                      </a:pPr>
                      <a:r>
                        <a:rPr lang="ko-KR" altLang="en-US" sz="1200" b="1" dirty="0">
                          <a:effectLst/>
                        </a:rPr>
                        <a:t>빈번한 소량 처리 </a:t>
                      </a:r>
                      <a:endParaRPr lang="en-US" altLang="ko-KR" sz="1200" b="1" dirty="0">
                        <a:effectLst/>
                      </a:endParaRPr>
                    </a:p>
                    <a:p>
                      <a:pPr algn="ctr" fontAlgn="base">
                        <a:buNone/>
                      </a:pPr>
                      <a:r>
                        <a:rPr lang="en-US" altLang="ko-KR" sz="1200" dirty="0">
                          <a:effectLst/>
                        </a:rPr>
                        <a:t>(</a:t>
                      </a:r>
                      <a:r>
                        <a:rPr lang="ko-KR" altLang="en-US" sz="1200" dirty="0">
                          <a:effectLst/>
                        </a:rPr>
                        <a:t>예</a:t>
                      </a:r>
                      <a:r>
                        <a:rPr lang="en-US" altLang="ko-KR" sz="1200" dirty="0">
                          <a:effectLst/>
                        </a:rPr>
                        <a:t>: </a:t>
                      </a:r>
                      <a:r>
                        <a:rPr lang="ko-KR" altLang="en-US" sz="1200" dirty="0">
                          <a:effectLst/>
                        </a:rPr>
                        <a:t>센서 데이터 </a:t>
                      </a:r>
                      <a:r>
                        <a:rPr lang="en-US" altLang="ko-KR" sz="1200" dirty="0">
                          <a:effectLst/>
                        </a:rPr>
                        <a:t>1</a:t>
                      </a:r>
                      <a:r>
                        <a:rPr lang="ko-KR" altLang="en-US" sz="1200" dirty="0">
                          <a:effectLst/>
                        </a:rPr>
                        <a:t>건씩 저장</a:t>
                      </a:r>
                      <a:r>
                        <a:rPr lang="en-US" altLang="ko-KR" sz="1200" dirty="0">
                          <a:effectLst/>
                        </a:rPr>
                        <a:t>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5017128"/>
                  </a:ext>
                </a:extLst>
              </a:tr>
            </a:tbl>
          </a:graphicData>
        </a:graphic>
      </p:graphicFrame>
      <p:sp>
        <p:nvSpPr>
          <p:cNvPr id="23" name="TextBox 22">
            <a:extLst>
              <a:ext uri="{FF2B5EF4-FFF2-40B4-BE49-F238E27FC236}">
                <a16:creationId xmlns:a16="http://schemas.microsoft.com/office/drawing/2014/main" id="{B110E1F5-1CDD-594B-701E-91DD66573564}"/>
              </a:ext>
            </a:extLst>
          </p:cNvPr>
          <p:cNvSpPr txBox="1"/>
          <p:nvPr/>
        </p:nvSpPr>
        <p:spPr>
          <a:xfrm>
            <a:off x="7660955" y="6498691"/>
            <a:ext cx="609442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0" dirty="0">
                <a:hlinkClick r:id="rId2"/>
              </a:rPr>
              <a:t>https://www.bartoszsypytkowski.com/db-backup-point-in-time-recovery/</a:t>
            </a:r>
            <a:endParaRPr lang="ko-KR" altLang="en-US" sz="1000" dirty="0"/>
          </a:p>
        </p:txBody>
      </p:sp>
      <p:pic>
        <p:nvPicPr>
          <p:cNvPr id="3" name="그림 2" descr="폰트, 도표, 라인, 텍스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0F3EA2B-9056-2D70-8F65-F17CCD246D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6330" y="200229"/>
            <a:ext cx="4286250" cy="260032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BCFD5A9-2345-91FC-6A76-1AF31B37762F}"/>
              </a:ext>
            </a:extLst>
          </p:cNvPr>
          <p:cNvSpPr txBox="1"/>
          <p:nvPr/>
        </p:nvSpPr>
        <p:spPr>
          <a:xfrm>
            <a:off x="7660955" y="6326571"/>
            <a:ext cx="687647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0" dirty="0">
                <a:hlinkClick r:id="rId4"/>
              </a:rPr>
              <a:t>https://parkcheolu.tistory.com/261</a:t>
            </a:r>
            <a:endParaRPr lang="ko-KR" altLang="en-US" sz="10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FA17590-BD44-4E8F-8539-F937A78BA474}"/>
              </a:ext>
            </a:extLst>
          </p:cNvPr>
          <p:cNvSpPr txBox="1"/>
          <p:nvPr/>
        </p:nvSpPr>
        <p:spPr>
          <a:xfrm>
            <a:off x="7660955" y="6166410"/>
            <a:ext cx="687647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0" dirty="0">
                <a:hlinkClick r:id="rId4"/>
              </a:rPr>
              <a:t>https://csg1353.tistory.com/154</a:t>
            </a:r>
            <a:endParaRPr lang="ko-KR" altLang="en-US" sz="10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9F1471D-33DD-1B6B-882A-59B18A842E86}"/>
              </a:ext>
            </a:extLst>
          </p:cNvPr>
          <p:cNvSpPr txBox="1"/>
          <p:nvPr/>
        </p:nvSpPr>
        <p:spPr>
          <a:xfrm>
            <a:off x="7660955" y="5932734"/>
            <a:ext cx="14316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/>
              <a:t>참고 자료</a:t>
            </a:r>
          </a:p>
        </p:txBody>
      </p:sp>
      <p:pic>
        <p:nvPicPr>
          <p:cNvPr id="15" name="그림 14" descr="텍스트, 도표, 평면도, 평행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975CA76-43F0-05AB-EB12-FB74C573DAB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09386" y="202521"/>
            <a:ext cx="4286250" cy="260261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6476075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138</TotalTime>
  <Words>116</Words>
  <Application>Microsoft Office PowerPoint</Application>
  <PresentationFormat>와이드스크린</PresentationFormat>
  <Paragraphs>25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민 평화</dc:creator>
  <cp:lastModifiedBy>민 평화</cp:lastModifiedBy>
  <cp:revision>4</cp:revision>
  <dcterms:created xsi:type="dcterms:W3CDTF">2025-12-15T14:01:26Z</dcterms:created>
  <dcterms:modified xsi:type="dcterms:W3CDTF">2025-12-16T15:50:26Z</dcterms:modified>
</cp:coreProperties>
</file>